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397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88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371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67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079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5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28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729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76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97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26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189038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0931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81299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5733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5426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90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1A8F7-CA87-4B4E-BB73-0F31B2882BBE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24DEBF-F63F-475A-B74A-8B7D198237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559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thworks.com/help/matlab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3A01C-A134-2632-1645-97CE31FC75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Numerical Approximation of Electromagnetic Field Integral in a Transmission Line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8888EE-7ED5-3B64-56CE-39703DEB33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GROUP 8</a:t>
            </a:r>
          </a:p>
          <a:p>
            <a:r>
              <a:rPr lang="en-US" b="1" dirty="0"/>
              <a:t>GROUP LEADER:  VICTOR G. AHMEDU</a:t>
            </a:r>
          </a:p>
          <a:p>
            <a:r>
              <a:rPr lang="en-US" b="1" dirty="0"/>
              <a:t>LECTURER: ENGR. DR. JAMES G. AMBAFI </a:t>
            </a:r>
          </a:p>
        </p:txBody>
      </p:sp>
    </p:spTree>
    <p:extLst>
      <p:ext uri="{BB962C8B-B14F-4D97-AF65-F5344CB8AC3E}">
        <p14:creationId xmlns:p14="http://schemas.microsoft.com/office/powerpoint/2010/main" val="2183565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DB670-6013-BE45-2E20-F542F562F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7CF549-4D57-5035-6B75-3FB2D9CA35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5" y="2420138"/>
            <a:ext cx="1064560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Transmission lines produce magnetic fields that can cause electromagnetic interference (EMI).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Analytical integration is often impractical for complex conductor geometries.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Apply and compare Composite Trapezoidal and Simpson’s Rules to estimate field strength</a:t>
            </a:r>
          </a:p>
        </p:txBody>
      </p:sp>
    </p:spTree>
    <p:extLst>
      <p:ext uri="{BB962C8B-B14F-4D97-AF65-F5344CB8AC3E}">
        <p14:creationId xmlns:p14="http://schemas.microsoft.com/office/powerpoint/2010/main" val="1151547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96CDC-6EB7-9A63-FD59-777DF1BC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Modelling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F90D83-E46F-CE00-A6FF-B07C222510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3796" y="3213920"/>
            <a:ext cx="1035376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310C8B-2FD7-BC49-26AF-99C18384D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34305"/>
            <a:ext cx="12192000" cy="3389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4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2645-51D4-55F7-68B9-3B3B91550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Numerical Methods Selection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E973F9-59F3-9E1A-2528-0C10E6EFF9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036210"/>
            <a:ext cx="10353675" cy="1814280"/>
          </a:xfrm>
        </p:spPr>
      </p:pic>
    </p:spTree>
    <p:extLst>
      <p:ext uri="{BB962C8B-B14F-4D97-AF65-F5344CB8AC3E}">
        <p14:creationId xmlns:p14="http://schemas.microsoft.com/office/powerpoint/2010/main" val="149981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80C1A-ACCC-0A1B-005C-6FD1DFF1C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Design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434488-0E53-7119-9FF9-DB6B030111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2257" y="1078184"/>
            <a:ext cx="10918372" cy="2769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 function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limits (</a:t>
            </a:r>
            <a:r>
              <a:rPr kumimoji="0" lang="en-US" altLang="en-US" sz="2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step size h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Iterative summation of interior points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9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method-specific weights</a:t>
            </a:r>
            <a:endParaRPr kumimoji="0" lang="en-US" altLang="en-US" sz="2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01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06E71-1F91-BA83-DE27-ED1BF988E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MATLAB Implementation &amp; Results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18718C-F7FF-AFB9-9DAD-E360CF5701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4264" y="1272760"/>
            <a:ext cx="10483548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Simulation Parameters: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7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=10, a=0.02, b=0.2.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from Command Window:</a:t>
            </a: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Exact: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2.302585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Trapezoidal: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2.365214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Simpson:</a:t>
            </a:r>
            <a:r>
              <a:rPr kumimoji="0" lang="en-US" altLang="en-US" sz="2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2.311978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3994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D8A80-4C1F-4390-F703-BB35679ED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555171"/>
            <a:ext cx="10353761" cy="1326321"/>
          </a:xfrm>
        </p:spPr>
        <p:txBody>
          <a:bodyPr/>
          <a:lstStyle/>
          <a:p>
            <a:r>
              <a:rPr lang="en-US" dirty="0"/>
              <a:t>MATLAB Implementation &amp; Results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3D7A78A-AF8A-12D6-17FB-6FC94C26BD6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732" y="1878367"/>
            <a:ext cx="5105400" cy="2871787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11FBB49-6272-FE45-350A-01602AA6A68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3918" y="1881492"/>
            <a:ext cx="5094287" cy="2865536"/>
          </a:xfrm>
        </p:spPr>
      </p:pic>
    </p:spTree>
    <p:extLst>
      <p:ext uri="{BB962C8B-B14F-4D97-AF65-F5344CB8AC3E}">
        <p14:creationId xmlns:p14="http://schemas.microsoft.com/office/powerpoint/2010/main" val="2982366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0F0BEF51-22CA-4C13-5F4E-81C9D5DAF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4763"/>
            <a:ext cx="1226820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plot illustrates the inverse relationship between distance (r) and field intensity (1/r).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6012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5893D-940A-8BC6-BDEC-5E45C6A58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Engineering Interpretation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5783A3-4E09-D5F2-6E2E-85EBF23AAA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0628" y="1795098"/>
            <a:ext cx="12061371" cy="275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EMI Mitigation: Field strength decreases rapidly with distance; adequate spacing is critical for sensitive equipment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 Insights: Accurate numerical estimation helps in positioning communication cables and designing transmission corridors.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000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BFAB-9323-8CB5-0BA6-56079A997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B819DF4-99E2-186A-BC70-E1B48EEC73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8856" y="1528531"/>
            <a:ext cx="12006943" cy="3493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Conclusion: Numerical methods effectively solve electromagnetic field problems where analytical solutions are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Finding: Simpson’s rule provides superior accuracy for precision engineering tasks.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b="1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 Use Simpson’s Rule for high-precision simulations; maintain strict spacing standards to reduce EMI.</a:t>
            </a:r>
          </a:p>
        </p:txBody>
      </p:sp>
    </p:spTree>
    <p:extLst>
      <p:ext uri="{BB962C8B-B14F-4D97-AF65-F5344CB8AC3E}">
        <p14:creationId xmlns:p14="http://schemas.microsoft.com/office/powerpoint/2010/main" val="3661042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EAB29-D75B-AEDE-E361-948D49B5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FD67B-54C7-56AC-C945-58029F981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[1] S. C. </a:t>
            </a:r>
            <a:r>
              <a:rPr lang="en-US" dirty="0" err="1"/>
              <a:t>Chapra</a:t>
            </a:r>
            <a:r>
              <a:rPr lang="en-US" dirty="0"/>
              <a:t> and R. P. </a:t>
            </a:r>
            <a:r>
              <a:rPr lang="en-US" dirty="0" err="1"/>
              <a:t>Canale</a:t>
            </a:r>
            <a:r>
              <a:rPr lang="en-US" dirty="0"/>
              <a:t>, </a:t>
            </a:r>
            <a:r>
              <a:rPr lang="en-US" i="1" dirty="0"/>
              <a:t>Numerical Methods for Engineers</a:t>
            </a:r>
            <a:r>
              <a:rPr lang="en-US" dirty="0"/>
              <a:t>, 7th ed. New York, NY, USA: McGraw-Hill Education, 2015.</a:t>
            </a:r>
          </a:p>
          <a:p>
            <a:r>
              <a:rPr lang="en-US" dirty="0"/>
              <a:t>[2] K. E. Atkinson, </a:t>
            </a:r>
            <a:r>
              <a:rPr lang="en-US" i="1" dirty="0"/>
              <a:t>An Introduction to Numerical Analysis</a:t>
            </a:r>
            <a:r>
              <a:rPr lang="en-US" dirty="0"/>
              <a:t>, 2nd ed. New York, NY, USA: John Wiley &amp; Sons, 1989.</a:t>
            </a:r>
          </a:p>
          <a:p>
            <a:r>
              <a:rPr lang="en-US" dirty="0"/>
              <a:t>[3] W. H. Press, S. A. </a:t>
            </a:r>
            <a:r>
              <a:rPr lang="en-US" dirty="0" err="1"/>
              <a:t>Teukolsky</a:t>
            </a:r>
            <a:r>
              <a:rPr lang="en-US" dirty="0"/>
              <a:t>, W. T. </a:t>
            </a:r>
            <a:r>
              <a:rPr lang="en-US" dirty="0" err="1"/>
              <a:t>Vetterling</a:t>
            </a:r>
            <a:r>
              <a:rPr lang="en-US" dirty="0"/>
              <a:t>, and B. P. Flannery, </a:t>
            </a:r>
            <a:r>
              <a:rPr lang="en-US" i="1" dirty="0"/>
              <a:t>Numerical Recipes: The Art of Scientific Computing</a:t>
            </a:r>
            <a:r>
              <a:rPr lang="en-US" dirty="0"/>
              <a:t>, 3rd ed. Cambridge, U.K.: Cambridge University Press, 2007.</a:t>
            </a:r>
          </a:p>
          <a:p>
            <a:r>
              <a:rPr lang="en-US" dirty="0"/>
              <a:t>[4] S. J. Chapman, </a:t>
            </a:r>
            <a:r>
              <a:rPr lang="en-US" i="1" dirty="0"/>
              <a:t>Electric Machinery Fundamentals</a:t>
            </a:r>
            <a:r>
              <a:rPr lang="en-US" dirty="0"/>
              <a:t>, 5th ed. New York, NY, USA: McGraw-Hill Education, 2012.</a:t>
            </a:r>
          </a:p>
          <a:p>
            <a:r>
              <a:rPr lang="en-US" dirty="0"/>
              <a:t>[5] MathWorks, “Numerical Integration in MATLAB,” MathWorks Documentation. [Online]. Available: </a:t>
            </a:r>
            <a:r>
              <a:rPr lang="en-US" dirty="0">
                <a:hlinkClick r:id="rId2"/>
              </a:rPr>
              <a:t>https://www.mathworks.com/help/matlab/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2227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74</TotalTime>
  <Words>424</Words>
  <Application>Microsoft Office PowerPoint</Application>
  <PresentationFormat>Widescreen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Rockwell</vt:lpstr>
      <vt:lpstr>Times New Roman</vt:lpstr>
      <vt:lpstr>Damask</vt:lpstr>
      <vt:lpstr>Numerical Approximation of Electromagnetic Field Integral in a Transmission Line </vt:lpstr>
      <vt:lpstr>Introduction &amp; Problem Statement</vt:lpstr>
      <vt:lpstr>Mathematical Modelling</vt:lpstr>
      <vt:lpstr>Numerical Methods Selection</vt:lpstr>
      <vt:lpstr>Algorithm Design</vt:lpstr>
      <vt:lpstr>MATLAB Implementation &amp; Results</vt:lpstr>
      <vt:lpstr>MATLAB Implementation &amp; Results</vt:lpstr>
      <vt:lpstr>PowerPoint Presentation</vt:lpstr>
      <vt:lpstr>Engineering Interpretation</vt:lpstr>
      <vt:lpstr>Conclusion &amp; Recommendations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Numerical Approximation of Electromagnetic Field Integral in a Transmission Line </dc:title>
  <dc:creator>Victor Ahmedu</dc:creator>
  <cp:lastModifiedBy>Victor Ahmedu</cp:lastModifiedBy>
  <cp:revision>5</cp:revision>
  <dcterms:created xsi:type="dcterms:W3CDTF">2026-03-09T20:45:16Z</dcterms:created>
  <dcterms:modified xsi:type="dcterms:W3CDTF">2026-03-16T19:07:01Z</dcterms:modified>
</cp:coreProperties>
</file>